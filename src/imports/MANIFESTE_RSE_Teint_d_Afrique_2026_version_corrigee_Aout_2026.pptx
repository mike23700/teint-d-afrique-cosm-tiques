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8633"/>
    <a:srgbClr val="BD97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 varScale="1">
        <p:scale>
          <a:sx n="64" d="100"/>
          <a:sy n="64" d="100"/>
        </p:scale>
        <p:origin x="748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D52C46B2-7D07-0A6C-3CA7-72D8E03AF1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Manifeste RSE                                                                    Teint d'Afrique Cosmétiques</a:t>
            </a:r>
            <a:endParaRPr lang="fr-CM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510A104-4604-16DA-0D3C-65E8AEAF97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1791AF-8010-4A5C-8D95-3916982B7EB3}" type="datetimeFigureOut">
              <a:rPr lang="fr-CM" smtClean="0"/>
              <a:t>24/08/2026</a:t>
            </a:fld>
            <a:endParaRPr lang="fr-CM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BF99089-082A-118C-7D2F-B5975F2CD41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M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2E4EDFC-EE67-21E4-428C-C434370E87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2A56E-D2D4-4BB4-8902-31A6DB2B0EA6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644944226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Manifeste RSE                                                                    Teint d'Afrique Cosmétiques</a:t>
            </a:r>
            <a:endParaRPr lang="fr-CM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BFC675-53D4-4563-92CB-8B24824404D6}" type="datetimeFigureOut">
              <a:rPr lang="fr-CM" smtClean="0"/>
              <a:t>24/08/2026</a:t>
            </a:fld>
            <a:endParaRPr lang="fr-CM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M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M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981792-4CE9-4A26-B446-CC63B7975C27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48786674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0D36D3-0887-7DC4-0FD4-9E6B9611B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3A41A24-2163-8170-04BB-0402F10A3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M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9068FC-138D-9E6F-531F-B04D9F0C0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E3F62-9E82-4593-BDA6-7755C329536F}" type="datetime1">
              <a:rPr lang="fr-CM" smtClean="0"/>
              <a:t>24/08/2026</a:t>
            </a:fld>
            <a:endParaRPr lang="fr-CM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36595E-FF1A-FC7A-32EE-6C3AD2B8A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6FAE7C-4993-7774-5BCB-FEAF3201C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1835675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7CA3C9-0DAE-7759-5673-CDD74B1DD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3D07B84-7888-80AC-1F50-93CB77A68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ED16D4-4BD3-4CD4-C9A5-DB0E4FE6C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BE552-617F-4A69-B68D-006170D7EDE0}" type="datetime1">
              <a:rPr lang="fr-CM" smtClean="0"/>
              <a:t>24/08/2026</a:t>
            </a:fld>
            <a:endParaRPr lang="fr-CM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7F70E6-5390-29DC-2491-B7FC12120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E9DDCF-BB12-38B6-3108-4656EEB85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3650017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6C54BB-956C-1A82-37D9-982B80AA5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E416205-A6FC-245F-E13A-D3F7CF314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922A27-647A-CAB5-6465-E3A32CE7D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7A7E4-FCE6-4977-87EC-B1155AF93F0C}" type="datetime1">
              <a:rPr lang="fr-CM" smtClean="0"/>
              <a:t>24/08/2026</a:t>
            </a:fld>
            <a:endParaRPr lang="fr-CM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0F7B7B-36E1-F628-0C38-610AEE50E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73E0856-9713-DF81-AB7B-8684CB73D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1491742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866AA1-13D7-2AB7-B5AE-7535BFA99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C0D39B-279B-2224-2A29-1676AAE77F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449A63A-6278-8968-0095-CE21DADCB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6922407-B090-1CDA-9650-7E58FB79E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236E6-ADCC-4C88-B9D1-8CC793501A67}" type="datetime1">
              <a:rPr lang="fr-CM" smtClean="0"/>
              <a:t>24/08/2026</a:t>
            </a:fld>
            <a:endParaRPr lang="fr-CM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C7775-7E18-E052-7EA8-DBF15498C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67EAFD-1079-5F35-B271-2B52DC6B2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10296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83DF65-7414-1432-A71D-0CFCCA0CD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4525F3-3B86-1CAE-95FD-8AD79D4A9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AC2536E-C52F-B88E-A18E-8BCAA23A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DF6769E-216A-AC32-A910-F7E598C4C6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FE498BD-B705-845A-1AAE-AD05F866C9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C43F8E6-ADEA-DA36-E18A-B1EA34C28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6D3B6-D3DE-4990-8760-3739F20D3473}" type="datetime1">
              <a:rPr lang="fr-CM" smtClean="0"/>
              <a:t>24/08/2026</a:t>
            </a:fld>
            <a:endParaRPr lang="fr-CM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EB49147-97EB-BF54-1E75-CAA5B68D0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E4144F8-5668-7D83-590C-3A1464DAF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3308369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283518-D959-BBBE-F2FB-93814A867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643A105-2A4C-3612-EEB6-5E0708441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5C300-C8F8-481C-908F-8F737378F761}" type="datetime1">
              <a:rPr lang="fr-CM" smtClean="0"/>
              <a:t>24/08/2026</a:t>
            </a:fld>
            <a:endParaRPr lang="fr-CM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CFF35A4-7E5C-32C2-02A9-6AB25296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AADF5FC-5D94-4432-CD17-7BA67A1E1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538606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0A8FB78-E5B2-0FE6-A6D3-FE386747D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A2CD4-2AD0-4D4C-9A8E-0BBF843A4587}" type="datetime1">
              <a:rPr lang="fr-CM" smtClean="0"/>
              <a:t>24/08/2026</a:t>
            </a:fld>
            <a:endParaRPr lang="fr-CM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3957F02-9267-41A5-F0D7-43FD68268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9FE22E1-0AB5-85AA-CFFB-CDA3C73EB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1203093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7F6E9E-1F97-4874-4C50-2A6BE36BA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15D345-009F-8665-0666-EDFFB1C55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6DB505C-CD54-C4B2-F309-91C3C88E3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AF744B6-5C3A-ABC1-796E-F65A886F8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89A8D-734B-4331-BD15-47CC70789229}" type="datetime1">
              <a:rPr lang="fr-CM" smtClean="0"/>
              <a:t>24/08/2026</a:t>
            </a:fld>
            <a:endParaRPr lang="fr-CM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AEEDFA-533C-DE5D-535C-121FC63BB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2A84B56-099D-3382-6E95-7CD6A0F6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1175198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3B6339-5C69-231A-E5FC-F15A89E06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4EC520E-CF01-7D96-D3E9-EFFC796A9F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M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D593BD6-1611-0D2B-DCBA-E2E9011C6A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8DF0832-E8ED-EB05-5611-1E0DABBEA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4237E-D72B-4FF8-89C7-561532D599D6}" type="datetime1">
              <a:rPr lang="fr-CM" smtClean="0"/>
              <a:t>24/08/2026</a:t>
            </a:fld>
            <a:endParaRPr lang="fr-CM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7391808-5CD5-E17D-7B69-4E39C56E2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CB61EF2-A7B6-DF24-701F-47821695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663634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29B355-94FE-B7D2-8C38-BFA8EE11B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B5F47CF-2BBC-6959-C9C1-24E524E3C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414B972-ADD6-6E19-01D0-2394D0ECA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8658E-4340-407E-82DB-2869401F0924}" type="datetime1">
              <a:rPr lang="fr-CM" smtClean="0"/>
              <a:t>24/08/2026</a:t>
            </a:fld>
            <a:endParaRPr lang="fr-CM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5E6DDCF-41E9-05A0-C3FD-5BA0BA678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5788-2B7A-BD94-2F42-E45AB5941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1634398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9476DF5-90B9-A54C-C206-1CF8BB3A92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1D381E2-46F6-D5E6-1EAD-6026176CC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986D14E-D2A7-CC9C-8E6C-2B998F0B5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58749-E89B-4B5B-951D-3131D35CC218}" type="datetime1">
              <a:rPr lang="fr-CM" smtClean="0"/>
              <a:t>24/08/2026</a:t>
            </a:fld>
            <a:endParaRPr lang="fr-CM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F6D25DE-0BDF-DE88-01C7-571BEE0C1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M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5F3BDC9-75BD-7E2B-725B-E508364A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3945154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AA69FE-2F82-7130-5E23-976368408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M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973147-C90B-3994-E6B5-BA6EA9A9DD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M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3594E1-A7D2-DAAB-055E-784AE11E71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1D8E0-0238-4261-9E71-9A77D8A7499A}" type="datetime1">
              <a:rPr lang="fr-CM" smtClean="0"/>
              <a:t>24/08/2026</a:t>
            </a:fld>
            <a:endParaRPr lang="fr-CM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D9803A-5AA3-06F4-92C7-E90404361A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M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0F946B-22D0-C0D8-0608-B5C29159D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7E68B3-C161-4039-B386-AE75273E7265}" type="slidenum">
              <a:rPr lang="fr-CM" smtClean="0"/>
              <a:t>‹N°›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517728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D2F636A-8D13-D0DA-1171-CD2E89046AF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718" y="505326"/>
            <a:ext cx="2525582" cy="186558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D2EBEE9-6443-993F-DC23-F4B1F470842E}"/>
              </a:ext>
            </a:extLst>
          </p:cNvPr>
          <p:cNvSpPr txBox="1"/>
          <p:nvPr/>
        </p:nvSpPr>
        <p:spPr>
          <a:xfrm>
            <a:off x="1792701" y="2815395"/>
            <a:ext cx="86266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MANIFESTE RSE</a:t>
            </a:r>
            <a:endParaRPr lang="fr-CM" sz="7200" dirty="0">
              <a:solidFill>
                <a:schemeClr val="accent4">
                  <a:lumMod val="60000"/>
                  <a:lumOff val="4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7488EA4-D5CB-CA20-1B78-6F1666040D1A}"/>
              </a:ext>
            </a:extLst>
          </p:cNvPr>
          <p:cNvSpPr txBox="1"/>
          <p:nvPr/>
        </p:nvSpPr>
        <p:spPr>
          <a:xfrm>
            <a:off x="2743198" y="3880453"/>
            <a:ext cx="67136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bg1">
                    <a:lumMod val="95000"/>
                  </a:schemeClr>
                </a:solidFill>
              </a:rPr>
              <a:t>Pour une beauté qui renforce votre identité</a:t>
            </a:r>
            <a:endParaRPr lang="fr-CM" sz="2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EBF7BE-39C1-E2A0-CE36-20E04B27ED22}"/>
              </a:ext>
            </a:extLst>
          </p:cNvPr>
          <p:cNvSpPr txBox="1"/>
          <p:nvPr/>
        </p:nvSpPr>
        <p:spPr>
          <a:xfrm>
            <a:off x="3765887" y="4585252"/>
            <a:ext cx="46562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solidFill>
                  <a:schemeClr val="bg1">
                    <a:lumMod val="95000"/>
                  </a:schemeClr>
                </a:solidFill>
              </a:rPr>
              <a:t>Responsabilité Sociétale Entreprise</a:t>
            </a:r>
            <a:endParaRPr lang="fr-CM" sz="20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C493485-425B-7A9A-22E4-1457A2CD2005}"/>
              </a:ext>
            </a:extLst>
          </p:cNvPr>
          <p:cNvSpPr txBox="1"/>
          <p:nvPr/>
        </p:nvSpPr>
        <p:spPr>
          <a:xfrm>
            <a:off x="6990353" y="6001524"/>
            <a:ext cx="33568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2000" dirty="0">
                <a:solidFill>
                  <a:schemeClr val="bg1">
                    <a:lumMod val="95000"/>
                  </a:schemeClr>
                </a:solidFill>
                <a:latin typeface="Monotype Corsiva" panose="03010101010201010101" pitchFamily="66" charset="0"/>
              </a:rPr>
              <a:t>Votre peau vaut de l’</a:t>
            </a:r>
            <a:r>
              <a:rPr lang="fr-FR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Monotype Corsiva" panose="03010101010201010101" pitchFamily="66" charset="0"/>
              </a:rPr>
              <a:t>Or</a:t>
            </a:r>
            <a:endParaRPr lang="fr-CM" sz="2000" dirty="0">
              <a:solidFill>
                <a:schemeClr val="accent4">
                  <a:lumMod val="60000"/>
                  <a:lumOff val="40000"/>
                </a:schemeClr>
              </a:solidFill>
              <a:latin typeface="Monotype Corsiva" panose="03010101010201010101" pitchFamily="66" charset="0"/>
            </a:endParaRP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7D80BD77-03B9-CE2B-1BFE-5F7E3766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7E68B3-C161-4039-B386-AE75273E7265}" type="slidenum">
              <a:rPr lang="fr-CM" smtClean="0"/>
              <a:t>1</a:t>
            </a:fld>
            <a:endParaRPr lang="fr-CM"/>
          </a:p>
        </p:txBody>
      </p:sp>
    </p:spTree>
    <p:extLst>
      <p:ext uri="{BB962C8B-B14F-4D97-AF65-F5344CB8AC3E}">
        <p14:creationId xmlns:p14="http://schemas.microsoft.com/office/powerpoint/2010/main" val="2737633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r>
              <a:rPr lang="fr-CM" sz="54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Qui sommes-nous ?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2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46747" y="2713374"/>
            <a:ext cx="1009850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2000" b="1" dirty="0"/>
              <a:t>Teint d’Afrique Cosmétiques </a:t>
            </a:r>
            <a:r>
              <a:rPr lang="fr-FR" sz="2000" dirty="0"/>
              <a:t>est une marque de cosmétiques camerounaise (créée en «année»), portée par MIKA Groupe SARL.</a:t>
            </a:r>
          </a:p>
          <a:p>
            <a:pPr algn="just"/>
            <a:endParaRPr lang="fr-FR" sz="2000" dirty="0"/>
          </a:p>
          <a:p>
            <a:pPr algn="just"/>
            <a:r>
              <a:rPr lang="fr-FR" sz="2000" dirty="0"/>
              <a:t>Notre spécificité :</a:t>
            </a:r>
          </a:p>
          <a:p>
            <a:pPr algn="just"/>
            <a:endParaRPr lang="fr-FR" sz="20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000" dirty="0"/>
              <a:t>Sublimer la peau noire plutôt que la corriger en opposition assumée à la dépigmentation.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000" dirty="0"/>
              <a:t>Des soins à base d’ingrédients naturels africains (curcuma, carotte, aloe vera, karité…).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000" dirty="0"/>
              <a:t>Une fabrication locale, distribuée chez plusieurs revendeurs et dans tous les Supermarchés CARREFOUR du Cameroun.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000" dirty="0"/>
              <a:t>Un rayonnement digital important</a:t>
            </a:r>
            <a:endParaRPr lang="fr-CM" sz="2000" dirty="0"/>
          </a:p>
        </p:txBody>
      </p:sp>
    </p:spTree>
    <p:extLst>
      <p:ext uri="{BB962C8B-B14F-4D97-AF65-F5344CB8AC3E}">
        <p14:creationId xmlns:p14="http://schemas.microsoft.com/office/powerpoint/2010/main" val="3244102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r>
              <a:rPr lang="fr-CM" sz="54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Pourquoi ce manifeste ?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3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46747" y="2713374"/>
            <a:ext cx="1009850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2300" b="1" dirty="0"/>
              <a:t>Teint d’Afrique Cosmétiques </a:t>
            </a:r>
            <a:r>
              <a:rPr lang="fr-FR" sz="2300" dirty="0"/>
              <a:t>est né d’un constat simple mais douloureux . </a:t>
            </a:r>
          </a:p>
          <a:p>
            <a:pPr algn="just"/>
            <a:endParaRPr lang="fr-FR" sz="23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des femmes noires détruisent leur peau pour ressembler à un idéal fantasmé,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des produits toxiques circulent librement,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des déchets plastiques envahissent nos villes et nos campagnes,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des femmes et des jeunes filles ont des compétences, mais pas d’opportunités,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nos richesses agricoles quittent le sol africain sans créer assez de valeur localement.</a:t>
            </a:r>
            <a:endParaRPr lang="fr-CM" sz="2300" dirty="0"/>
          </a:p>
        </p:txBody>
      </p:sp>
    </p:spTree>
    <p:extLst>
      <p:ext uri="{BB962C8B-B14F-4D97-AF65-F5344CB8AC3E}">
        <p14:creationId xmlns:p14="http://schemas.microsoft.com/office/powerpoint/2010/main" val="3244102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r>
              <a:rPr lang="fr-FR" sz="54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Notre engagement</a:t>
            </a:r>
            <a:endParaRPr lang="fr-CM" sz="5400" b="1" dirty="0">
              <a:solidFill>
                <a:schemeClr val="accent6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4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46747" y="2713379"/>
            <a:ext cx="1009850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2300" dirty="0"/>
              <a:t>Face à cela, notre choix est déterminé :</a:t>
            </a:r>
          </a:p>
          <a:p>
            <a:pPr algn="just"/>
            <a:endParaRPr lang="fr-FR" sz="2300" dirty="0"/>
          </a:p>
          <a:p>
            <a:pPr algn="just"/>
            <a:r>
              <a:rPr lang="fr-FR" sz="2300" dirty="0"/>
              <a:t>👉 ne pas être une marque de plus,</a:t>
            </a:r>
          </a:p>
          <a:p>
            <a:pPr algn="just"/>
            <a:r>
              <a:rPr lang="fr-FR" sz="2300" dirty="0"/>
              <a:t>👉 mais un acteur de transformation sociale, sanitaire et économique.</a:t>
            </a:r>
          </a:p>
          <a:p>
            <a:pPr algn="just"/>
            <a:endParaRPr lang="fr-FR" sz="2300" dirty="0"/>
          </a:p>
          <a:p>
            <a:pPr algn="just"/>
            <a:r>
              <a:rPr lang="fr-FR" sz="2300" dirty="0"/>
              <a:t>Ce n’est pas un supplément d’âme. C’est toute l’âme de Teint d’Afrique Cosmétiques. Sa raison d’être.</a:t>
            </a:r>
            <a:endParaRPr lang="fr-CM" sz="2300" dirty="0"/>
          </a:p>
        </p:txBody>
      </p:sp>
    </p:spTree>
    <p:extLst>
      <p:ext uri="{BB962C8B-B14F-4D97-AF65-F5344CB8AC3E}">
        <p14:creationId xmlns:p14="http://schemas.microsoft.com/office/powerpoint/2010/main" val="1066221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r>
              <a:rPr lang="fr-FR" sz="54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Notre vision</a:t>
            </a:r>
            <a:endParaRPr lang="fr-CM" sz="5400" b="1" dirty="0">
              <a:solidFill>
                <a:schemeClr val="accent6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5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46747" y="2713379"/>
            <a:ext cx="10098506" cy="2569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2300" dirty="0"/>
              <a:t>Nous croyons que :</a:t>
            </a:r>
          </a:p>
          <a:p>
            <a:pPr algn="just"/>
            <a:endParaRPr lang="fr-FR" sz="23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La peau noire n’a pas besoin d’être corrigée, mais protégée, sublimée, valorisée.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La femme africaine n’a pas besoin d’être sauvée, mais accompagnée.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L’environnement ne se défend pas par des discours, mais par des actions simples et cohérentes.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2300" dirty="0"/>
              <a:t>L’entreprise africaine doit créer de la richesse sans détruire ce qui la nourrit.</a:t>
            </a:r>
            <a:endParaRPr lang="fr-CM" sz="2300" dirty="0"/>
          </a:p>
        </p:txBody>
      </p:sp>
    </p:spTree>
    <p:extLst>
      <p:ext uri="{BB962C8B-B14F-4D97-AF65-F5344CB8AC3E}">
        <p14:creationId xmlns:p14="http://schemas.microsoft.com/office/powerpoint/2010/main" val="1546587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r>
              <a:rPr lang="fr-FR" sz="54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Notre ambition</a:t>
            </a:r>
            <a:endParaRPr lang="fr-CM" sz="5400" b="1" dirty="0">
              <a:solidFill>
                <a:schemeClr val="accent6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6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46747" y="2713379"/>
            <a:ext cx="10098506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2300" dirty="0"/>
              <a:t>Faire de la beauté un levier de:</a:t>
            </a:r>
          </a:p>
          <a:p>
            <a:pPr algn="just"/>
            <a:endParaRPr lang="fr-FR" sz="23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chemeClr val="accent6">
                    <a:lumMod val="50000"/>
                  </a:schemeClr>
                </a:solidFill>
              </a:rPr>
              <a:t>santé publique,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chemeClr val="accent6">
                    <a:lumMod val="50000"/>
                  </a:schemeClr>
                </a:solidFill>
              </a:rPr>
              <a:t>fierté identitaire et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fr-FR" sz="3200" b="1" dirty="0">
                <a:solidFill>
                  <a:schemeClr val="accent6">
                    <a:lumMod val="50000"/>
                  </a:schemeClr>
                </a:solidFill>
              </a:rPr>
              <a:t>développement local durable</a:t>
            </a:r>
            <a:r>
              <a:rPr lang="fr-FR" sz="2300" dirty="0"/>
              <a:t>.</a:t>
            </a:r>
            <a:endParaRPr lang="fr-CM" sz="2300" dirty="0"/>
          </a:p>
        </p:txBody>
      </p:sp>
    </p:spTree>
    <p:extLst>
      <p:ext uri="{BB962C8B-B14F-4D97-AF65-F5344CB8AC3E}">
        <p14:creationId xmlns:p14="http://schemas.microsoft.com/office/powerpoint/2010/main" val="325900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pPr algn="ctr"/>
            <a: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piliers RSE</a:t>
            </a:r>
            <a:endParaRPr lang="fr-CM" sz="5400" b="1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bg1">
                    <a:lumMod val="95000"/>
                  </a:schemeClr>
                </a:solidFill>
              </a:rPr>
              <a:pPr algn="ctr"/>
              <a:t>7</a:t>
            </a:fld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Manifeste RSE </a:t>
            </a:r>
            <a:r>
              <a:rPr lang="fr-FR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| </a:t>
            </a:r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2026</a:t>
            </a:r>
            <a:endParaRPr lang="fr-CM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89102" y="3563415"/>
            <a:ext cx="21777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SANTÉ, IDENTITÉ ET</a:t>
            </a:r>
          </a:p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LUTTE CONTRE LA</a:t>
            </a:r>
          </a:p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DÉPIGMENTATION</a:t>
            </a:r>
            <a:endParaRPr lang="fr-CM" sz="20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2EC846DB-C78C-5217-72CC-E7C0983DC2A5}"/>
              </a:ext>
            </a:extLst>
          </p:cNvPr>
          <p:cNvSpPr/>
          <p:nvPr/>
        </p:nvSpPr>
        <p:spPr>
          <a:xfrm>
            <a:off x="1696690" y="2466731"/>
            <a:ext cx="998621" cy="998621"/>
          </a:xfrm>
          <a:prstGeom prst="ellipse">
            <a:avLst/>
          </a:prstGeom>
          <a:solidFill>
            <a:srgbClr val="E3B24A"/>
          </a:solidFill>
          <a:ln w="25400">
            <a:solidFill>
              <a:srgbClr val="B889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F3BC60C-A833-D2BC-D033-0514A49B6131}"/>
              </a:ext>
            </a:extLst>
          </p:cNvPr>
          <p:cNvSpPr txBox="1"/>
          <p:nvPr/>
        </p:nvSpPr>
        <p:spPr>
          <a:xfrm>
            <a:off x="1949355" y="2490786"/>
            <a:ext cx="559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1CA1BD8-F5B0-47F8-2F69-016766A52D19}"/>
              </a:ext>
            </a:extLst>
          </p:cNvPr>
          <p:cNvSpPr txBox="1"/>
          <p:nvPr/>
        </p:nvSpPr>
        <p:spPr>
          <a:xfrm>
            <a:off x="3701127" y="3559401"/>
            <a:ext cx="210552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ENVIRONNEMENT ET</a:t>
            </a:r>
          </a:p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LUTTE CONTRE LE</a:t>
            </a:r>
          </a:p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PLASTIQUE</a:t>
            </a:r>
            <a:endParaRPr lang="fr-CM" sz="20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924AA25-D9D3-9DC9-6D03-75A5DD8B3C00}"/>
              </a:ext>
            </a:extLst>
          </p:cNvPr>
          <p:cNvSpPr/>
          <p:nvPr/>
        </p:nvSpPr>
        <p:spPr>
          <a:xfrm>
            <a:off x="4296690" y="2462717"/>
            <a:ext cx="998621" cy="998621"/>
          </a:xfrm>
          <a:prstGeom prst="ellipse">
            <a:avLst/>
          </a:prstGeom>
          <a:solidFill>
            <a:srgbClr val="3EBDA6"/>
          </a:solidFill>
          <a:ln w="25400">
            <a:solidFill>
              <a:srgbClr val="2E93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86EC99A-42EC-B268-4C0F-32168AA13A18}"/>
              </a:ext>
            </a:extLst>
          </p:cNvPr>
          <p:cNvSpPr txBox="1"/>
          <p:nvPr/>
        </p:nvSpPr>
        <p:spPr>
          <a:xfrm>
            <a:off x="4501226" y="2486772"/>
            <a:ext cx="559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4E938B2-53E7-EC9D-DB27-B57AD2AA5A2A}"/>
              </a:ext>
            </a:extLst>
          </p:cNvPr>
          <p:cNvSpPr txBox="1"/>
          <p:nvPr/>
        </p:nvSpPr>
        <p:spPr>
          <a:xfrm>
            <a:off x="6545767" y="3543357"/>
            <a:ext cx="173254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AGRICULTURE</a:t>
            </a:r>
          </a:p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LOCALE ET VALEUR</a:t>
            </a:r>
          </a:p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AJOUTÉE AFRICAINE</a:t>
            </a:r>
            <a:endParaRPr lang="fr-CM" sz="20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9C81552-F360-6EB6-1FB4-028608FBAF05}"/>
              </a:ext>
            </a:extLst>
          </p:cNvPr>
          <p:cNvSpPr/>
          <p:nvPr/>
        </p:nvSpPr>
        <p:spPr>
          <a:xfrm>
            <a:off x="6896690" y="2446673"/>
            <a:ext cx="998621" cy="998621"/>
          </a:xfrm>
          <a:prstGeom prst="ellipse">
            <a:avLst/>
          </a:prstGeom>
          <a:solidFill>
            <a:srgbClr val="E07A3C"/>
          </a:solidFill>
          <a:ln w="25400">
            <a:solidFill>
              <a:srgbClr val="B85A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C1CBC06-8544-3264-D8C5-110E295651E9}"/>
              </a:ext>
            </a:extLst>
          </p:cNvPr>
          <p:cNvSpPr txBox="1"/>
          <p:nvPr/>
        </p:nvSpPr>
        <p:spPr>
          <a:xfrm>
            <a:off x="7113260" y="2470728"/>
            <a:ext cx="559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38C7C92-FF8F-9667-CDFE-E0A29C7E15DA}"/>
              </a:ext>
            </a:extLst>
          </p:cNvPr>
          <p:cNvSpPr txBox="1"/>
          <p:nvPr/>
        </p:nvSpPr>
        <p:spPr>
          <a:xfrm>
            <a:off x="8889099" y="3555388"/>
            <a:ext cx="22098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EMPLOYABILITÉ ET</a:t>
            </a:r>
          </a:p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AUTONOMISATION DES</a:t>
            </a:r>
          </a:p>
          <a:p>
            <a:pPr algn="ctr"/>
            <a:r>
              <a:rPr lang="fr-FR" sz="2000" b="1" dirty="0">
                <a:solidFill>
                  <a:schemeClr val="bg1">
                    <a:lumMod val="95000"/>
                  </a:schemeClr>
                </a:solidFill>
              </a:rPr>
              <a:t>FEMMES</a:t>
            </a:r>
            <a:endParaRPr lang="fr-CM" sz="20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B3CAC730-2D78-319E-00BD-4728658A8C4A}"/>
              </a:ext>
            </a:extLst>
          </p:cNvPr>
          <p:cNvSpPr/>
          <p:nvPr/>
        </p:nvSpPr>
        <p:spPr>
          <a:xfrm>
            <a:off x="9496690" y="2458704"/>
            <a:ext cx="998621" cy="998621"/>
          </a:xfrm>
          <a:prstGeom prst="ellipse">
            <a:avLst/>
          </a:prstGeom>
          <a:solidFill>
            <a:srgbClr val="E08CA0"/>
          </a:solidFill>
          <a:ln w="25400">
            <a:solidFill>
              <a:srgbClr val="B85E7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51A7A77-7BE4-C924-CCCE-344176EAFEA6}"/>
              </a:ext>
            </a:extLst>
          </p:cNvPr>
          <p:cNvSpPr txBox="1"/>
          <p:nvPr/>
        </p:nvSpPr>
        <p:spPr>
          <a:xfrm>
            <a:off x="9701229" y="2482759"/>
            <a:ext cx="559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7845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pPr algn="ctr"/>
            <a: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piliers RSE</a:t>
            </a:r>
            <a:endParaRPr lang="fr-CM" sz="5400" b="1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bg1">
                    <a:lumMod val="95000"/>
                  </a:schemeClr>
                </a:solidFill>
              </a:rPr>
              <a:pPr algn="ctr"/>
              <a:t>8</a:t>
            </a:fld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Manifeste RSE </a:t>
            </a:r>
            <a:r>
              <a:rPr lang="fr-FR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| </a:t>
            </a:r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Teint d’Afrique Cosmétiques</a:t>
            </a:r>
            <a:endParaRPr lang="fr-CM" b="1" dirty="0">
              <a:solidFill>
                <a:srgbClr val="E3B24A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2026</a:t>
            </a:r>
            <a:endParaRPr lang="fr-CM" b="1" dirty="0">
              <a:solidFill>
                <a:srgbClr val="E3B24A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106910" y="3707794"/>
            <a:ext cx="10022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rgbClr val="E3B24A"/>
                </a:solidFill>
              </a:rPr>
              <a:t>SANTÉ, IDENTITÉ ET LUTTE CONTRE LA DÉPIGMENTATION</a:t>
            </a:r>
            <a:endParaRPr lang="fr-CM" sz="3200" b="1" dirty="0">
              <a:solidFill>
                <a:srgbClr val="E3B24A"/>
              </a:solidFill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2EC846DB-C78C-5217-72CC-E7C0983DC2A5}"/>
              </a:ext>
            </a:extLst>
          </p:cNvPr>
          <p:cNvSpPr/>
          <p:nvPr/>
        </p:nvSpPr>
        <p:spPr>
          <a:xfrm>
            <a:off x="5575631" y="2495710"/>
            <a:ext cx="998621" cy="998621"/>
          </a:xfrm>
          <a:prstGeom prst="ellipse">
            <a:avLst/>
          </a:prstGeom>
          <a:solidFill>
            <a:srgbClr val="E3B24A"/>
          </a:solidFill>
          <a:ln w="25400">
            <a:solidFill>
              <a:srgbClr val="B889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F3BC60C-A833-D2BC-D033-0514A49B6131}"/>
              </a:ext>
            </a:extLst>
          </p:cNvPr>
          <p:cNvSpPr txBox="1"/>
          <p:nvPr/>
        </p:nvSpPr>
        <p:spPr>
          <a:xfrm>
            <a:off x="5828296" y="2519765"/>
            <a:ext cx="559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19DEDBC-4BAC-AC51-220E-4E3EA51128A2}"/>
              </a:ext>
            </a:extLst>
          </p:cNvPr>
          <p:cNvSpPr txBox="1"/>
          <p:nvPr/>
        </p:nvSpPr>
        <p:spPr>
          <a:xfrm>
            <a:off x="3573381" y="5141645"/>
            <a:ext cx="5041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M" sz="3200" dirty="0">
                <a:solidFill>
                  <a:schemeClr val="bg1">
                    <a:lumMod val="95000"/>
                  </a:schemeClr>
                </a:solidFill>
                <a:latin typeface="Monotype Corsiva" panose="03010101010201010101" pitchFamily="66" charset="0"/>
              </a:rPr>
              <a:t>L’Afrique doit prendre soin des peaux noires</a:t>
            </a:r>
          </a:p>
        </p:txBody>
      </p:sp>
    </p:spTree>
    <p:extLst>
      <p:ext uri="{BB962C8B-B14F-4D97-AF65-F5344CB8AC3E}">
        <p14:creationId xmlns:p14="http://schemas.microsoft.com/office/powerpoint/2010/main" val="4286916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0811" y="1171243"/>
            <a:ext cx="5049253" cy="1325563"/>
          </a:xfrm>
        </p:spPr>
        <p:txBody>
          <a:bodyPr>
            <a:normAutofit/>
          </a:bodyPr>
          <a:lstStyle/>
          <a:p>
            <a:r>
              <a:rPr lang="fr-FR" sz="4000" b="1" dirty="0">
                <a:solidFill>
                  <a:srgbClr val="8A641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 problème</a:t>
            </a:r>
            <a:endParaRPr lang="fr-CM" sz="4000" b="1" dirty="0">
              <a:solidFill>
                <a:srgbClr val="8A641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9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70812" y="2606143"/>
            <a:ext cx="354931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2000" dirty="0"/>
              <a:t>La dépigmentation volontaire n’est pas un simple choix esthétique. C’est un problème de santé, d’information et d’estime de soi.</a:t>
            </a:r>
            <a:endParaRPr lang="fr-CM" sz="2000" dirty="0"/>
          </a:p>
        </p:txBody>
      </p:sp>
      <p:sp>
        <p:nvSpPr>
          <p:cNvPr id="2" name="Titre 7">
            <a:extLst>
              <a:ext uri="{FF2B5EF4-FFF2-40B4-BE49-F238E27FC236}">
                <a16:creationId xmlns:a16="http://schemas.microsoft.com/office/drawing/2014/main" id="{B89C2A03-5CB8-E392-AA00-369EDBFBA1F3}"/>
              </a:ext>
            </a:extLst>
          </p:cNvPr>
          <p:cNvSpPr txBox="1">
            <a:spLocks/>
          </p:cNvSpPr>
          <p:nvPr/>
        </p:nvSpPr>
        <p:spPr>
          <a:xfrm>
            <a:off x="5253792" y="1179262"/>
            <a:ext cx="504925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>
                <a:solidFill>
                  <a:srgbClr val="8A641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engagements</a:t>
            </a:r>
            <a:endParaRPr lang="fr-CM" sz="4000" b="1" dirty="0">
              <a:solidFill>
                <a:srgbClr val="8A641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826219E-BE8B-0997-F7EA-538C731F771C}"/>
              </a:ext>
            </a:extLst>
          </p:cNvPr>
          <p:cNvSpPr txBox="1"/>
          <p:nvPr/>
        </p:nvSpPr>
        <p:spPr>
          <a:xfrm>
            <a:off x="5253791" y="2673796"/>
            <a:ext cx="591151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/>
              <a:t>❌ Zéro produit éclaircissant, sans exception ni compromis.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/>
              <a:t>🧴 Produits de réparation pour accompagner les femmes qui arrêtent la dépigmentation et des produits d’entretien pour prendre soin de la peau de celles qui ne l’ont jamais fait.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/>
              <a:t>📢 Campagnes de sensibilisation accessibles, en langues locales, sur les marchés, dans les écoles et via les médias de proximité.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👉 En partenariat avec des acteurs de santé,</a:t>
            </a:r>
          </a:p>
          <a:p>
            <a:pPr algn="just"/>
            <a:r>
              <a:rPr lang="fr-FR" dirty="0"/>
              <a:t>nous souhaitons soutenir des actions pilotes de consultation et d’orientation dermatologique pour les peaux abîmées.</a:t>
            </a:r>
            <a:endParaRPr lang="fr-CM" dirty="0"/>
          </a:p>
        </p:txBody>
      </p:sp>
    </p:spTree>
    <p:extLst>
      <p:ext uri="{BB962C8B-B14F-4D97-AF65-F5344CB8AC3E}">
        <p14:creationId xmlns:p14="http://schemas.microsoft.com/office/powerpoint/2010/main" val="4197184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pPr algn="ctr"/>
            <a: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piliers RSE</a:t>
            </a:r>
            <a:endParaRPr lang="fr-CM" sz="5400" b="1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bg1">
                    <a:lumMod val="95000"/>
                  </a:schemeClr>
                </a:solidFill>
              </a:rPr>
              <a:pPr algn="ctr"/>
              <a:t>10</a:t>
            </a:fld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Manifeste RSE </a:t>
            </a:r>
            <a:r>
              <a:rPr lang="fr-FR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| </a:t>
            </a:r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Teint d’Afrique Cosmétiques</a:t>
            </a:r>
            <a:endParaRPr lang="fr-CM" b="1" dirty="0">
              <a:solidFill>
                <a:srgbClr val="3EBDA6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2026</a:t>
            </a:r>
            <a:endParaRPr lang="fr-CM" b="1" dirty="0">
              <a:solidFill>
                <a:srgbClr val="3EBDA6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106910" y="3707794"/>
            <a:ext cx="10022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rgbClr val="3EBDA6"/>
                </a:solidFill>
              </a:rPr>
              <a:t>ENVIRONNEMENT ET LUTTE CONTRE LE PLASTIQUE</a:t>
            </a:r>
            <a:endParaRPr lang="fr-CM" sz="3200" b="1" dirty="0">
              <a:solidFill>
                <a:srgbClr val="3EBDA6"/>
              </a:solidFill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2EC846DB-C78C-5217-72CC-E7C0983DC2A5}"/>
              </a:ext>
            </a:extLst>
          </p:cNvPr>
          <p:cNvSpPr/>
          <p:nvPr/>
        </p:nvSpPr>
        <p:spPr>
          <a:xfrm>
            <a:off x="5575631" y="2495710"/>
            <a:ext cx="998621" cy="998621"/>
          </a:xfrm>
          <a:prstGeom prst="ellipse">
            <a:avLst/>
          </a:prstGeom>
          <a:solidFill>
            <a:srgbClr val="3EBDA6"/>
          </a:solidFill>
          <a:ln w="25400">
            <a:solidFill>
              <a:srgbClr val="2E93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F3BC60C-A833-D2BC-D033-0514A49B6131}"/>
              </a:ext>
            </a:extLst>
          </p:cNvPr>
          <p:cNvSpPr txBox="1"/>
          <p:nvPr/>
        </p:nvSpPr>
        <p:spPr>
          <a:xfrm>
            <a:off x="5828296" y="2519765"/>
            <a:ext cx="559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19DEDBC-4BAC-AC51-220E-4E3EA51128A2}"/>
              </a:ext>
            </a:extLst>
          </p:cNvPr>
          <p:cNvSpPr txBox="1"/>
          <p:nvPr/>
        </p:nvSpPr>
        <p:spPr>
          <a:xfrm>
            <a:off x="1780675" y="5141645"/>
            <a:ext cx="86988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>
                    <a:lumMod val="95000"/>
                  </a:schemeClr>
                </a:solidFill>
                <a:latin typeface="Monotype Corsiva" panose="03010101010201010101" pitchFamily="66" charset="0"/>
              </a:rPr>
              <a:t>L’Afrique ne peut plus être jonchée de déchets plastiques</a:t>
            </a:r>
            <a:endParaRPr lang="fr-CM" sz="3200" dirty="0">
              <a:solidFill>
                <a:schemeClr val="bg1">
                  <a:lumMod val="95000"/>
                </a:schemeClr>
              </a:solidFill>
              <a:latin typeface="Monotype Corsiva" panose="030101010102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4063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0811" y="1171243"/>
            <a:ext cx="5049253" cy="1325563"/>
          </a:xfrm>
        </p:spPr>
        <p:txBody>
          <a:bodyPr>
            <a:normAutofit/>
          </a:bodyPr>
          <a:lstStyle/>
          <a:p>
            <a:r>
              <a:rPr lang="fr-FR" sz="4000" b="1" dirty="0">
                <a:solidFill>
                  <a:srgbClr val="0F6E5E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 problème</a:t>
            </a:r>
            <a:endParaRPr lang="fr-CM" sz="4000" b="1" dirty="0">
              <a:solidFill>
                <a:srgbClr val="0F6E5E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11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70812" y="2725411"/>
            <a:ext cx="35493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2000" dirty="0"/>
              <a:t>Le plastique envahit nos rues plus vite que les solutions de recyclage.</a:t>
            </a:r>
            <a:endParaRPr lang="fr-CM" sz="2000" dirty="0"/>
          </a:p>
        </p:txBody>
      </p:sp>
      <p:sp>
        <p:nvSpPr>
          <p:cNvPr id="2" name="Titre 7">
            <a:extLst>
              <a:ext uri="{FF2B5EF4-FFF2-40B4-BE49-F238E27FC236}">
                <a16:creationId xmlns:a16="http://schemas.microsoft.com/office/drawing/2014/main" id="{B89C2A03-5CB8-E392-AA00-369EDBFBA1F3}"/>
              </a:ext>
            </a:extLst>
          </p:cNvPr>
          <p:cNvSpPr txBox="1">
            <a:spLocks/>
          </p:cNvSpPr>
          <p:nvPr/>
        </p:nvSpPr>
        <p:spPr>
          <a:xfrm>
            <a:off x="5253792" y="1179262"/>
            <a:ext cx="504925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>
                <a:solidFill>
                  <a:srgbClr val="0F6E5E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engagements</a:t>
            </a:r>
            <a:endParaRPr lang="fr-CM" sz="4000" b="1" dirty="0">
              <a:solidFill>
                <a:srgbClr val="0F6E5E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826219E-BE8B-0997-F7EA-538C731F771C}"/>
              </a:ext>
            </a:extLst>
          </p:cNvPr>
          <p:cNvSpPr txBox="1"/>
          <p:nvPr/>
        </p:nvSpPr>
        <p:spPr>
          <a:xfrm>
            <a:off x="5253791" y="2733430"/>
            <a:ext cx="591151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/>
              <a:t>♻ Réduction progressive du plastique vierge dans nos emballages.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/>
              <a:t>🔄 Systèmes de retour des contenants : rapporter un pot vide = avantage client.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/>
              <a:t>📍 Points de collecte dans les boutiques et marchés partenaires.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/>
              <a:t>🌱 Valorisation des déchets agricoles (coques, résidus végétaux) pour des usages utiles</a:t>
            </a:r>
          </a:p>
          <a:p>
            <a:pPr marL="285750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/>
              <a:t>🧠 Sensibilisation environnementale intégrée à nos campagnes produits.</a:t>
            </a:r>
            <a:endParaRPr lang="fr-CM" dirty="0"/>
          </a:p>
        </p:txBody>
      </p:sp>
      <p:sp>
        <p:nvSpPr>
          <p:cNvPr id="5" name="Flèche : pentagone 4">
            <a:extLst>
              <a:ext uri="{FF2B5EF4-FFF2-40B4-BE49-F238E27FC236}">
                <a16:creationId xmlns:a16="http://schemas.microsoft.com/office/drawing/2014/main" id="{8C3211E5-6DA0-4D8E-07BC-A9C2F626315D}"/>
              </a:ext>
            </a:extLst>
          </p:cNvPr>
          <p:cNvSpPr/>
          <p:nvPr/>
        </p:nvSpPr>
        <p:spPr>
          <a:xfrm>
            <a:off x="1070811" y="5896550"/>
            <a:ext cx="10094493" cy="397882"/>
          </a:xfrm>
          <a:prstGeom prst="homePlate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C0D8C2B-B1B6-4C82-32B3-273BD7BB9D99}"/>
              </a:ext>
            </a:extLst>
          </p:cNvPr>
          <p:cNvSpPr txBox="1"/>
          <p:nvPr/>
        </p:nvSpPr>
        <p:spPr>
          <a:xfrm>
            <a:off x="1058778" y="5892361"/>
            <a:ext cx="10455443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700" b="1" dirty="0"/>
              <a:t>👉 </a:t>
            </a:r>
            <a:r>
              <a:rPr lang="fr-FR" sz="1700" b="1" dirty="0">
                <a:solidFill>
                  <a:schemeClr val="bg1">
                    <a:lumMod val="95000"/>
                  </a:schemeClr>
                </a:solidFill>
              </a:rPr>
              <a:t>Notre objectif n’est pas la perfection immédiate, mais une transition réaliste, mesurable et reproductible.</a:t>
            </a:r>
            <a:endParaRPr lang="fr-CM" sz="17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4579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pPr algn="ctr"/>
            <a: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piliers RSE</a:t>
            </a:r>
            <a:endParaRPr lang="fr-CM" sz="5400" b="1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bg1">
                    <a:lumMod val="95000"/>
                  </a:schemeClr>
                </a:solidFill>
              </a:rPr>
              <a:pPr algn="ctr"/>
              <a:t>12</a:t>
            </a:fld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Manifeste RSE </a:t>
            </a:r>
            <a:r>
              <a:rPr lang="fr-FR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| </a:t>
            </a:r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Teint d’Afrique Cosmétiques</a:t>
            </a:r>
            <a:endParaRPr lang="fr-CM" b="1" dirty="0">
              <a:solidFill>
                <a:srgbClr val="E07A3C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2026</a:t>
            </a:r>
            <a:endParaRPr lang="fr-CM" b="1" dirty="0">
              <a:solidFill>
                <a:srgbClr val="E07A3C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106910" y="3707794"/>
            <a:ext cx="10022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rgbClr val="E07A3C"/>
                </a:solidFill>
              </a:rPr>
              <a:t>AGRICULTURE LOCALE ET VALEUR AJOUTÉE AFRICAINE</a:t>
            </a:r>
            <a:endParaRPr lang="fr-CM" sz="3200" b="1" dirty="0">
              <a:solidFill>
                <a:srgbClr val="E07A3C"/>
              </a:solidFill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2EC846DB-C78C-5217-72CC-E7C0983DC2A5}"/>
              </a:ext>
            </a:extLst>
          </p:cNvPr>
          <p:cNvSpPr/>
          <p:nvPr/>
        </p:nvSpPr>
        <p:spPr>
          <a:xfrm>
            <a:off x="5575631" y="2495710"/>
            <a:ext cx="998621" cy="998621"/>
          </a:xfrm>
          <a:prstGeom prst="ellipse">
            <a:avLst/>
          </a:prstGeom>
          <a:solidFill>
            <a:srgbClr val="E07A3C"/>
          </a:solidFill>
          <a:ln w="25400">
            <a:solidFill>
              <a:srgbClr val="B85A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F3BC60C-A833-D2BC-D033-0514A49B6131}"/>
              </a:ext>
            </a:extLst>
          </p:cNvPr>
          <p:cNvSpPr txBox="1"/>
          <p:nvPr/>
        </p:nvSpPr>
        <p:spPr>
          <a:xfrm>
            <a:off x="5828296" y="2519765"/>
            <a:ext cx="559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19DEDBC-4BAC-AC51-220E-4E3EA51128A2}"/>
              </a:ext>
            </a:extLst>
          </p:cNvPr>
          <p:cNvSpPr txBox="1"/>
          <p:nvPr/>
        </p:nvSpPr>
        <p:spPr>
          <a:xfrm>
            <a:off x="1106910" y="5141645"/>
            <a:ext cx="10022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>
                    <a:lumMod val="95000"/>
                  </a:schemeClr>
                </a:solidFill>
                <a:latin typeface="Monotype Corsiva" panose="03010101010201010101" pitchFamily="66" charset="0"/>
              </a:rPr>
              <a:t>La terre africaine doit d’abord enrichir ceux qui la cultivent</a:t>
            </a:r>
            <a:endParaRPr lang="fr-CM" sz="3200" dirty="0">
              <a:solidFill>
                <a:schemeClr val="bg1">
                  <a:lumMod val="95000"/>
                </a:schemeClr>
              </a:solidFill>
              <a:latin typeface="Monotype Corsiva" panose="030101010102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767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0811" y="1171243"/>
            <a:ext cx="5049253" cy="1325563"/>
          </a:xfrm>
        </p:spPr>
        <p:txBody>
          <a:bodyPr>
            <a:normAutofit/>
          </a:bodyPr>
          <a:lstStyle/>
          <a:p>
            <a:r>
              <a:rPr lang="fr-FR" sz="4000" b="1" dirty="0">
                <a:solidFill>
                  <a:srgbClr val="A84E1C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 problème</a:t>
            </a:r>
            <a:endParaRPr lang="fr-CM" sz="4000" b="1" dirty="0">
              <a:solidFill>
                <a:srgbClr val="A84E1C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13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70812" y="2725411"/>
            <a:ext cx="2887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2400" dirty="0"/>
              <a:t>L’Afrique produit mais transforme peu.</a:t>
            </a:r>
            <a:endParaRPr lang="fr-CM" sz="2400" dirty="0"/>
          </a:p>
        </p:txBody>
      </p:sp>
      <p:sp>
        <p:nvSpPr>
          <p:cNvPr id="2" name="Titre 7">
            <a:extLst>
              <a:ext uri="{FF2B5EF4-FFF2-40B4-BE49-F238E27FC236}">
                <a16:creationId xmlns:a16="http://schemas.microsoft.com/office/drawing/2014/main" id="{B89C2A03-5CB8-E392-AA00-369EDBFBA1F3}"/>
              </a:ext>
            </a:extLst>
          </p:cNvPr>
          <p:cNvSpPr txBox="1">
            <a:spLocks/>
          </p:cNvSpPr>
          <p:nvPr/>
        </p:nvSpPr>
        <p:spPr>
          <a:xfrm>
            <a:off x="5253792" y="1179262"/>
            <a:ext cx="504925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>
                <a:solidFill>
                  <a:srgbClr val="A84E1C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engagements</a:t>
            </a:r>
            <a:endParaRPr lang="fr-CM" sz="4000" b="1" dirty="0">
              <a:solidFill>
                <a:srgbClr val="A84E1C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826219E-BE8B-0997-F7EA-538C731F771C}"/>
              </a:ext>
            </a:extLst>
          </p:cNvPr>
          <p:cNvSpPr txBox="1"/>
          <p:nvPr/>
        </p:nvSpPr>
        <p:spPr>
          <a:xfrm>
            <a:off x="5253791" y="2733430"/>
            <a:ext cx="591151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🌿 Utilisation prioritaire d’ingrédients locaux (citron, carotte, aloe </a:t>
            </a:r>
            <a:r>
              <a:rPr lang="fr-FR" sz="2000" dirty="0" err="1"/>
              <a:t>vera</a:t>
            </a:r>
            <a:r>
              <a:rPr lang="fr-FR" sz="2000" dirty="0"/>
              <a:t>, karité, etc.).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🤝 Achats directs auprès de producteurs et coopératives locales, avec des relations durables.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🏭 Transformation locale pour créer de la valeur sur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place.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🔍 Traçabilité simple et compréhensible des ingrédients</a:t>
            </a:r>
            <a:endParaRPr lang="fr-CM" sz="2000" dirty="0"/>
          </a:p>
        </p:txBody>
      </p:sp>
    </p:spTree>
    <p:extLst>
      <p:ext uri="{BB962C8B-B14F-4D97-AF65-F5344CB8AC3E}">
        <p14:creationId xmlns:p14="http://schemas.microsoft.com/office/powerpoint/2010/main" val="2285270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099052"/>
            <a:ext cx="10118558" cy="1325563"/>
          </a:xfrm>
        </p:spPr>
        <p:txBody>
          <a:bodyPr>
            <a:normAutofit/>
          </a:bodyPr>
          <a:lstStyle/>
          <a:p>
            <a:pPr algn="ctr"/>
            <a: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piliers RSE</a:t>
            </a:r>
            <a:endParaRPr lang="fr-CM" sz="5400" b="1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bg1">
                    <a:lumMod val="95000"/>
                  </a:schemeClr>
                </a:solidFill>
              </a:rPr>
              <a:pPr algn="ctr"/>
              <a:t>14</a:t>
            </a:fld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Manifeste RSE </a:t>
            </a:r>
            <a:r>
              <a:rPr lang="fr-FR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| </a:t>
            </a:r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Teint d’Afrique Cosmétiques</a:t>
            </a:r>
            <a:endParaRPr lang="fr-CM" b="1" dirty="0">
              <a:solidFill>
                <a:srgbClr val="E08CA0"/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2026</a:t>
            </a:r>
            <a:endParaRPr lang="fr-CM" b="1" dirty="0">
              <a:solidFill>
                <a:srgbClr val="E08CA0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106910" y="3707794"/>
            <a:ext cx="10022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rgbClr val="E08CA0"/>
                </a:solidFill>
              </a:rPr>
              <a:t>EMPLOYABILITÉ ET AUTONOMISATION DES FEMMES</a:t>
            </a:r>
            <a:endParaRPr lang="fr-CM" sz="3200" b="1" dirty="0">
              <a:solidFill>
                <a:srgbClr val="E08CA0"/>
              </a:solidFill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2EC846DB-C78C-5217-72CC-E7C0983DC2A5}"/>
              </a:ext>
            </a:extLst>
          </p:cNvPr>
          <p:cNvSpPr/>
          <p:nvPr/>
        </p:nvSpPr>
        <p:spPr>
          <a:xfrm>
            <a:off x="5575631" y="2495710"/>
            <a:ext cx="998621" cy="998621"/>
          </a:xfrm>
          <a:prstGeom prst="ellipse">
            <a:avLst/>
          </a:prstGeom>
          <a:solidFill>
            <a:srgbClr val="E08CA0"/>
          </a:solidFill>
          <a:ln w="25400">
            <a:solidFill>
              <a:srgbClr val="B85E7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F3BC60C-A833-D2BC-D033-0514A49B6131}"/>
              </a:ext>
            </a:extLst>
          </p:cNvPr>
          <p:cNvSpPr txBox="1"/>
          <p:nvPr/>
        </p:nvSpPr>
        <p:spPr>
          <a:xfrm>
            <a:off x="5828296" y="2519765"/>
            <a:ext cx="5594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4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19DEDBC-4BAC-AC51-220E-4E3EA51128A2}"/>
              </a:ext>
            </a:extLst>
          </p:cNvPr>
          <p:cNvSpPr txBox="1"/>
          <p:nvPr/>
        </p:nvSpPr>
        <p:spPr>
          <a:xfrm>
            <a:off x="1106910" y="5141645"/>
            <a:ext cx="10022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>
                    <a:lumMod val="95000"/>
                  </a:schemeClr>
                </a:solidFill>
                <a:latin typeface="Monotype Corsiva" panose="03010101010201010101" pitchFamily="66" charset="0"/>
              </a:rPr>
              <a:t>Une femme africaine autonome est une communauté plus forte</a:t>
            </a:r>
            <a:endParaRPr lang="fr-CM" sz="3200" dirty="0">
              <a:solidFill>
                <a:schemeClr val="bg1">
                  <a:lumMod val="95000"/>
                </a:schemeClr>
              </a:solidFill>
              <a:latin typeface="Monotype Corsiva" panose="03010101010201010101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410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0811" y="1171243"/>
            <a:ext cx="5049253" cy="1325563"/>
          </a:xfrm>
        </p:spPr>
        <p:txBody>
          <a:bodyPr>
            <a:normAutofit/>
          </a:bodyPr>
          <a:lstStyle/>
          <a:p>
            <a:r>
              <a:rPr lang="fr-FR" sz="4000" b="1" dirty="0">
                <a:solidFill>
                  <a:srgbClr val="A84A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 problème</a:t>
            </a:r>
            <a:endParaRPr lang="fr-CM" sz="4000" b="1" dirty="0">
              <a:solidFill>
                <a:srgbClr val="A84A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15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070812" y="2467158"/>
            <a:ext cx="3653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Les femmes africaines ont du talent, mais peu d’accès à l’emploi structuré.</a:t>
            </a:r>
            <a:endParaRPr lang="fr-CM" sz="2400" dirty="0"/>
          </a:p>
        </p:txBody>
      </p:sp>
      <p:sp>
        <p:nvSpPr>
          <p:cNvPr id="2" name="Titre 7">
            <a:extLst>
              <a:ext uri="{FF2B5EF4-FFF2-40B4-BE49-F238E27FC236}">
                <a16:creationId xmlns:a16="http://schemas.microsoft.com/office/drawing/2014/main" id="{B89C2A03-5CB8-E392-AA00-369EDBFBA1F3}"/>
              </a:ext>
            </a:extLst>
          </p:cNvPr>
          <p:cNvSpPr txBox="1">
            <a:spLocks/>
          </p:cNvSpPr>
          <p:nvPr/>
        </p:nvSpPr>
        <p:spPr>
          <a:xfrm>
            <a:off x="5253792" y="1179262"/>
            <a:ext cx="504925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>
                <a:solidFill>
                  <a:srgbClr val="A84A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Nos engagements</a:t>
            </a:r>
            <a:endParaRPr lang="fr-CM" sz="4000" b="1" dirty="0">
              <a:solidFill>
                <a:srgbClr val="A84A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826219E-BE8B-0997-F7EA-538C731F771C}"/>
              </a:ext>
            </a:extLst>
          </p:cNvPr>
          <p:cNvSpPr txBox="1"/>
          <p:nvPr/>
        </p:nvSpPr>
        <p:spPr>
          <a:xfrm>
            <a:off x="5253792" y="2496806"/>
            <a:ext cx="591151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👩🏾‍🔬 Priorité à l’emploi féminin dans notre chaîne de valeur.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🎓 Programmes de formation pratiques aux métiers de la cosmétique naturelle et de la vente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🤲🏾 Partenariats avec des coopératives féminines rurales, à des conditions justes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🚀 Micro-franchise sociale permettant à des femmes de devenir distributrices locales avec un accompagnement adapté.</a:t>
            </a:r>
            <a:endParaRPr lang="fr-CM" sz="2000" dirty="0"/>
          </a:p>
        </p:txBody>
      </p:sp>
    </p:spTree>
    <p:extLst>
      <p:ext uri="{BB962C8B-B14F-4D97-AF65-F5344CB8AC3E}">
        <p14:creationId xmlns:p14="http://schemas.microsoft.com/office/powerpoint/2010/main" val="224591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16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" name="Titre 7">
            <a:extLst>
              <a:ext uri="{FF2B5EF4-FFF2-40B4-BE49-F238E27FC236}">
                <a16:creationId xmlns:a16="http://schemas.microsoft.com/office/drawing/2014/main" id="{B89C2A03-5CB8-E392-AA00-369EDBFBA1F3}"/>
              </a:ext>
            </a:extLst>
          </p:cNvPr>
          <p:cNvSpPr txBox="1">
            <a:spLocks/>
          </p:cNvSpPr>
          <p:nvPr/>
        </p:nvSpPr>
        <p:spPr>
          <a:xfrm>
            <a:off x="5253792" y="1179262"/>
            <a:ext cx="504925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Rendre des comptes</a:t>
            </a:r>
            <a:endParaRPr lang="fr-CM" sz="4000" b="1" dirty="0">
              <a:solidFill>
                <a:schemeClr val="accent6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826219E-BE8B-0997-F7EA-538C731F771C}"/>
              </a:ext>
            </a:extLst>
          </p:cNvPr>
          <p:cNvSpPr txBox="1"/>
          <p:nvPr/>
        </p:nvSpPr>
        <p:spPr>
          <a:xfrm>
            <a:off x="5253791" y="2733430"/>
            <a:ext cx="5911513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🧾 Communication honnête, sans promesses irréalistes.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📊 Suivi des impacts : femmes employées, personnes sensibilisées, contenants récupérés.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🤝 Ouverture aux ONG, institutions et partenaires pour </a:t>
            </a:r>
            <a:r>
              <a:rPr lang="fr-FR" sz="2000" dirty="0" err="1"/>
              <a:t>co-construire</a:t>
            </a:r>
            <a:r>
              <a:rPr lang="fr-FR" sz="2000" dirty="0"/>
              <a:t> et évaluer nos actions.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🗣 Respect de la dignité : aucune humiliation, aucun discours culpabilisant</a:t>
            </a:r>
            <a:endParaRPr lang="fr-CM" sz="20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B06BCA4-1192-21AC-B091-04B31B6252BA}"/>
              </a:ext>
            </a:extLst>
          </p:cNvPr>
          <p:cNvSpPr txBox="1"/>
          <p:nvPr/>
        </p:nvSpPr>
        <p:spPr>
          <a:xfrm>
            <a:off x="1200020" y="2733430"/>
            <a:ext cx="3653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Un manifeste n’a de valeur que s’il engage dans la durée. L’éthique, la transparence et la responsabilité ne sont pas un pilier de plus : elles traversent chacun de nos engagements.</a:t>
            </a:r>
            <a:endParaRPr lang="fr-CM" sz="2400" dirty="0"/>
          </a:p>
        </p:txBody>
      </p:sp>
      <p:sp>
        <p:nvSpPr>
          <p:cNvPr id="5" name="Titre 7">
            <a:extLst>
              <a:ext uri="{FF2B5EF4-FFF2-40B4-BE49-F238E27FC236}">
                <a16:creationId xmlns:a16="http://schemas.microsoft.com/office/drawing/2014/main" id="{D49AA7F4-48E8-AACC-41BD-200C1FD7A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0811" y="1171243"/>
            <a:ext cx="5049253" cy="1325563"/>
          </a:xfrm>
        </p:spPr>
        <p:txBody>
          <a:bodyPr>
            <a:normAutofit/>
          </a:bodyPr>
          <a:lstStyle/>
          <a:p>
            <a:r>
              <a:rPr lang="fr-FR" sz="40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Notre fil rouge</a:t>
            </a:r>
            <a:endParaRPr lang="fr-CM" sz="4000" b="1" dirty="0">
              <a:solidFill>
                <a:schemeClr val="accent6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0765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1171244"/>
            <a:ext cx="10118558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APPEL AUX PARTENAIRES</a:t>
            </a:r>
            <a:b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ET BAILLEURS</a:t>
            </a:r>
            <a:endParaRPr lang="fr-CM" sz="5400" b="1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bg1">
                    <a:lumMod val="95000"/>
                  </a:schemeClr>
                </a:solidFill>
              </a:rPr>
              <a:pPr algn="ctr"/>
              <a:t>17</a:t>
            </a:fld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Manifeste RSE </a:t>
            </a:r>
            <a:r>
              <a:rPr lang="fr-FR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| </a:t>
            </a:r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2026</a:t>
            </a:r>
            <a:endParaRPr lang="fr-CM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106910" y="3707794"/>
            <a:ext cx="100222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Nous ne cherchons pas seulement des financements.</a:t>
            </a:r>
          </a:p>
          <a:p>
            <a:pPr algn="ctr"/>
            <a:r>
              <a:rPr lang="fr-FR" sz="3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Nous cherchons des alliés.</a:t>
            </a:r>
            <a:endParaRPr lang="fr-CM" sz="32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60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18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" name="Titre 7">
            <a:extLst>
              <a:ext uri="{FF2B5EF4-FFF2-40B4-BE49-F238E27FC236}">
                <a16:creationId xmlns:a16="http://schemas.microsoft.com/office/drawing/2014/main" id="{B89C2A03-5CB8-E392-AA00-369EDBFBA1F3}"/>
              </a:ext>
            </a:extLst>
          </p:cNvPr>
          <p:cNvSpPr txBox="1">
            <a:spLocks/>
          </p:cNvSpPr>
          <p:nvPr/>
        </p:nvSpPr>
        <p:spPr>
          <a:xfrm>
            <a:off x="1018673" y="1179262"/>
            <a:ext cx="504925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Notre promesse</a:t>
            </a:r>
            <a:endParaRPr lang="fr-CM" sz="4000" b="1" dirty="0">
              <a:solidFill>
                <a:schemeClr val="accent6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EACF9-41BA-5768-53EC-5C4577F20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2190" y="595470"/>
            <a:ext cx="5448292" cy="554063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997C54F-D914-04E8-5E30-F9B6189A47A4}"/>
              </a:ext>
            </a:extLst>
          </p:cNvPr>
          <p:cNvSpPr txBox="1"/>
          <p:nvPr/>
        </p:nvSpPr>
        <p:spPr>
          <a:xfrm>
            <a:off x="1066789" y="2725069"/>
            <a:ext cx="521474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fr-FR" sz="2300" b="1" dirty="0">
                <a:solidFill>
                  <a:srgbClr val="A78633"/>
                </a:solidFill>
              </a:rPr>
              <a:t>Nous ne prétendons pas sauver l’Afrique.</a:t>
            </a:r>
          </a:p>
          <a:p>
            <a:pPr algn="just">
              <a:spcAft>
                <a:spcPts val="600"/>
              </a:spcAft>
            </a:pPr>
            <a:r>
              <a:rPr lang="fr-FR" sz="2300" b="1" dirty="0">
                <a:solidFill>
                  <a:srgbClr val="A78633"/>
                </a:solidFill>
              </a:rPr>
              <a:t>Mais nous refusons de prospérer en fermant les yeux sur ses blessures.</a:t>
            </a:r>
            <a:endParaRPr lang="fr-CM" sz="2300" b="1" dirty="0">
              <a:solidFill>
                <a:srgbClr val="A78633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C933B9D-4352-99E9-BE51-D17646487847}"/>
              </a:ext>
            </a:extLst>
          </p:cNvPr>
          <p:cNvSpPr txBox="1"/>
          <p:nvPr/>
        </p:nvSpPr>
        <p:spPr>
          <a:xfrm>
            <a:off x="1018673" y="4176419"/>
            <a:ext cx="544829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fr-FR" sz="23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Teint d’Afrique Cosmétiques </a:t>
            </a:r>
            <a:r>
              <a:rPr lang="fr-FR" sz="23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c’est :</a:t>
            </a:r>
            <a:endParaRPr lang="fr-CM" sz="23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Flèche : pentagone 7">
            <a:extLst>
              <a:ext uri="{FF2B5EF4-FFF2-40B4-BE49-F238E27FC236}">
                <a16:creationId xmlns:a16="http://schemas.microsoft.com/office/drawing/2014/main" id="{8C58C879-DE02-1E1E-D659-764AA1200570}"/>
              </a:ext>
            </a:extLst>
          </p:cNvPr>
          <p:cNvSpPr/>
          <p:nvPr/>
        </p:nvSpPr>
        <p:spPr>
          <a:xfrm>
            <a:off x="1066789" y="4868027"/>
            <a:ext cx="7499695" cy="929512"/>
          </a:xfrm>
          <a:prstGeom prst="homePlate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/>
          </a:p>
        </p:txBody>
      </p:sp>
      <p:sp>
        <p:nvSpPr>
          <p:cNvPr id="9" name="Flèche : pentagone 8">
            <a:extLst>
              <a:ext uri="{FF2B5EF4-FFF2-40B4-BE49-F238E27FC236}">
                <a16:creationId xmlns:a16="http://schemas.microsoft.com/office/drawing/2014/main" id="{3E47AD55-C542-1CCA-C812-F3094C303898}"/>
              </a:ext>
            </a:extLst>
          </p:cNvPr>
          <p:cNvSpPr/>
          <p:nvPr/>
        </p:nvSpPr>
        <p:spPr>
          <a:xfrm>
            <a:off x="1086838" y="4876043"/>
            <a:ext cx="4942974" cy="929512"/>
          </a:xfrm>
          <a:prstGeom prst="homePlat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/>
          </a:p>
        </p:txBody>
      </p:sp>
      <p:sp>
        <p:nvSpPr>
          <p:cNvPr id="10" name="Flèche : pentagone 9">
            <a:extLst>
              <a:ext uri="{FF2B5EF4-FFF2-40B4-BE49-F238E27FC236}">
                <a16:creationId xmlns:a16="http://schemas.microsoft.com/office/drawing/2014/main" id="{73CC28E0-5125-DA14-0E95-DDEE5ED09E79}"/>
              </a:ext>
            </a:extLst>
          </p:cNvPr>
          <p:cNvSpPr/>
          <p:nvPr/>
        </p:nvSpPr>
        <p:spPr>
          <a:xfrm>
            <a:off x="1086838" y="4860011"/>
            <a:ext cx="2811394" cy="929512"/>
          </a:xfrm>
          <a:prstGeom prst="homePlate">
            <a:avLst/>
          </a:prstGeom>
          <a:solidFill>
            <a:srgbClr val="A7863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M"/>
          </a:p>
        </p:txBody>
      </p:sp>
      <p:sp>
        <p:nvSpPr>
          <p:cNvPr id="14" name="Titre 7">
            <a:extLst>
              <a:ext uri="{FF2B5EF4-FFF2-40B4-BE49-F238E27FC236}">
                <a16:creationId xmlns:a16="http://schemas.microsoft.com/office/drawing/2014/main" id="{03CFCA91-D361-36E8-0F8E-7D8485CD0BA3}"/>
              </a:ext>
            </a:extLst>
          </p:cNvPr>
          <p:cNvSpPr txBox="1">
            <a:spLocks/>
          </p:cNvSpPr>
          <p:nvPr/>
        </p:nvSpPr>
        <p:spPr>
          <a:xfrm>
            <a:off x="1112937" y="5029721"/>
            <a:ext cx="2648933" cy="5956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6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 BEAUTÉ QUI RASSURE</a:t>
            </a:r>
            <a:endParaRPr lang="fr-CM" sz="1600" b="1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Titre 7">
            <a:extLst>
              <a:ext uri="{FF2B5EF4-FFF2-40B4-BE49-F238E27FC236}">
                <a16:creationId xmlns:a16="http://schemas.microsoft.com/office/drawing/2014/main" id="{0A8B5CBD-97AF-493C-5261-DA5C86553CE8}"/>
              </a:ext>
            </a:extLst>
          </p:cNvPr>
          <p:cNvSpPr txBox="1">
            <a:spLocks/>
          </p:cNvSpPr>
          <p:nvPr/>
        </p:nvSpPr>
        <p:spPr>
          <a:xfrm>
            <a:off x="3974437" y="5029721"/>
            <a:ext cx="1788692" cy="5956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6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 ENTREPRISE QUI ÉLÈVE</a:t>
            </a:r>
            <a:endParaRPr lang="fr-CM" sz="1600" b="1" dirty="0">
              <a:solidFill>
                <a:schemeClr val="accent6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itre 7">
            <a:extLst>
              <a:ext uri="{FF2B5EF4-FFF2-40B4-BE49-F238E27FC236}">
                <a16:creationId xmlns:a16="http://schemas.microsoft.com/office/drawing/2014/main" id="{68DA65B5-3621-8722-9429-A7D0A0D4339F}"/>
              </a:ext>
            </a:extLst>
          </p:cNvPr>
          <p:cNvSpPr txBox="1">
            <a:spLocks/>
          </p:cNvSpPr>
          <p:nvPr/>
        </p:nvSpPr>
        <p:spPr>
          <a:xfrm>
            <a:off x="6124076" y="5041705"/>
            <a:ext cx="2153650" cy="5956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6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 VISION QUI RESPECTE L’AFRIQUE</a:t>
            </a:r>
            <a:endParaRPr lang="fr-CM" sz="1600" b="1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558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pPr algn="ctr"/>
              <a:t>19</a:t>
            </a:fld>
            <a:r>
              <a:rPr lang="fr-CM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Manifeste RSE | </a:t>
            </a:r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2026</a:t>
            </a:r>
            <a:endParaRPr lang="fr-CM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" name="Titre 7">
            <a:extLst>
              <a:ext uri="{FF2B5EF4-FFF2-40B4-BE49-F238E27FC236}">
                <a16:creationId xmlns:a16="http://schemas.microsoft.com/office/drawing/2014/main" id="{B89C2A03-5CB8-E392-AA00-369EDBFBA1F3}"/>
              </a:ext>
            </a:extLst>
          </p:cNvPr>
          <p:cNvSpPr txBox="1">
            <a:spLocks/>
          </p:cNvSpPr>
          <p:nvPr/>
        </p:nvSpPr>
        <p:spPr>
          <a:xfrm>
            <a:off x="1018673" y="1179262"/>
            <a:ext cx="74034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Soutenir Teint d’Afrique c’est :</a:t>
            </a:r>
            <a:endParaRPr lang="fr-CM" sz="4000" b="1" dirty="0">
              <a:solidFill>
                <a:schemeClr val="accent6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3235B88-A013-D745-9559-6C1DD2D31B8B}"/>
              </a:ext>
            </a:extLst>
          </p:cNvPr>
          <p:cNvSpPr txBox="1"/>
          <p:nvPr/>
        </p:nvSpPr>
        <p:spPr>
          <a:xfrm>
            <a:off x="757995" y="3699770"/>
            <a:ext cx="21777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1.</a:t>
            </a:r>
          </a:p>
          <a:p>
            <a:pPr algn="ctr"/>
            <a:r>
              <a:rPr lang="fr-FR" sz="2000" b="1" dirty="0">
                <a:solidFill>
                  <a:schemeClr val="accent6">
                    <a:lumMod val="50000"/>
                  </a:schemeClr>
                </a:solidFill>
              </a:rPr>
              <a:t>Investir</a:t>
            </a:r>
            <a:r>
              <a:rPr lang="fr-FR" sz="2000" b="1" dirty="0"/>
              <a:t> dans la santé publique</a:t>
            </a:r>
            <a:endParaRPr lang="fr-CM" sz="2000" b="1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0A84ABB-A608-2C6D-60A0-8F541D963B2A}"/>
              </a:ext>
            </a:extLst>
          </p:cNvPr>
          <p:cNvSpPr txBox="1"/>
          <p:nvPr/>
        </p:nvSpPr>
        <p:spPr>
          <a:xfrm>
            <a:off x="2833436" y="3699770"/>
            <a:ext cx="21777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2.</a:t>
            </a:r>
          </a:p>
          <a:p>
            <a:pPr algn="ctr"/>
            <a:r>
              <a:rPr lang="fr-FR" sz="2000" b="1" dirty="0">
                <a:solidFill>
                  <a:schemeClr val="accent6">
                    <a:lumMod val="50000"/>
                  </a:schemeClr>
                </a:solidFill>
              </a:rPr>
              <a:t>Lutter</a:t>
            </a:r>
            <a:r>
              <a:rPr lang="fr-FR" sz="2000" b="1" dirty="0"/>
              <a:t> contre une pratique</a:t>
            </a:r>
          </a:p>
          <a:p>
            <a:pPr algn="ctr"/>
            <a:r>
              <a:rPr lang="fr-FR" sz="2000" b="1" dirty="0"/>
              <a:t>dangereuse encore trop banalisée</a:t>
            </a:r>
            <a:endParaRPr lang="fr-CM" sz="2000" b="1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F0D03A1B-C1EC-9F00-A1F1-92A8621D1A9A}"/>
              </a:ext>
            </a:extLst>
          </p:cNvPr>
          <p:cNvSpPr txBox="1"/>
          <p:nvPr/>
        </p:nvSpPr>
        <p:spPr>
          <a:xfrm>
            <a:off x="4997119" y="3699770"/>
            <a:ext cx="21777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3.</a:t>
            </a:r>
          </a:p>
          <a:p>
            <a:pPr algn="ctr"/>
            <a:r>
              <a:rPr lang="fr-FR" sz="2000" b="1" dirty="0">
                <a:solidFill>
                  <a:schemeClr val="accent6">
                    <a:lumMod val="50000"/>
                  </a:schemeClr>
                </a:solidFill>
              </a:rPr>
              <a:t>Créer</a:t>
            </a:r>
            <a:r>
              <a:rPr lang="fr-FR" sz="2000" b="1" dirty="0"/>
              <a:t> de l’emploi féminin local</a:t>
            </a:r>
            <a:endParaRPr lang="fr-CM" sz="2000" b="1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4E17AF2-D022-7CD6-679D-C89518E90B4D}"/>
              </a:ext>
            </a:extLst>
          </p:cNvPr>
          <p:cNvSpPr txBox="1"/>
          <p:nvPr/>
        </p:nvSpPr>
        <p:spPr>
          <a:xfrm>
            <a:off x="7152785" y="3722883"/>
            <a:ext cx="217771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4.</a:t>
            </a:r>
          </a:p>
          <a:p>
            <a:pPr algn="ctr"/>
            <a:r>
              <a:rPr lang="fr-FR" sz="2000" b="1" dirty="0">
                <a:solidFill>
                  <a:schemeClr val="accent6">
                    <a:lumMod val="50000"/>
                  </a:schemeClr>
                </a:solidFill>
              </a:rPr>
              <a:t>Contribuer</a:t>
            </a:r>
            <a:r>
              <a:rPr lang="fr-FR" sz="2000" b="1" dirty="0"/>
              <a:t> à une économie</a:t>
            </a:r>
          </a:p>
          <a:p>
            <a:pPr algn="ctr"/>
            <a:r>
              <a:rPr lang="fr-FR" sz="2000" b="1" dirty="0"/>
              <a:t>africaine plus responsable</a:t>
            </a:r>
            <a:endParaRPr lang="fr-CM" sz="2000" b="1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B650EE12-823B-EF2D-F625-F0F7C0F22CD8}"/>
              </a:ext>
            </a:extLst>
          </p:cNvPr>
          <p:cNvSpPr txBox="1"/>
          <p:nvPr/>
        </p:nvSpPr>
        <p:spPr>
          <a:xfrm>
            <a:off x="9264322" y="3722883"/>
            <a:ext cx="21777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5.</a:t>
            </a:r>
          </a:p>
          <a:p>
            <a:pPr algn="ctr"/>
            <a:r>
              <a:rPr lang="fr-FR" sz="2000" b="1" dirty="0">
                <a:solidFill>
                  <a:schemeClr val="accent6">
                    <a:lumMod val="50000"/>
                  </a:schemeClr>
                </a:solidFill>
              </a:rPr>
              <a:t>Participer</a:t>
            </a:r>
            <a:r>
              <a:rPr lang="fr-FR" sz="2000" b="1" dirty="0"/>
              <a:t> à un projet ancré,</a:t>
            </a:r>
          </a:p>
          <a:p>
            <a:pPr algn="ctr"/>
            <a:r>
              <a:rPr lang="fr-FR" sz="2000" b="1" dirty="0"/>
              <a:t>crédible et évolutif</a:t>
            </a:r>
            <a:endParaRPr lang="fr-CM" sz="2000" b="1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2856463-646F-F6D3-1FB0-1A91989978B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594" y="2543694"/>
            <a:ext cx="1127764" cy="113468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8826CAF-9B63-5CEA-BF61-8A81AD1F3B4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162" y="2567444"/>
            <a:ext cx="1127764" cy="113468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91D4663-97EA-CB03-C063-1339000C4A3D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4296" y="2555569"/>
            <a:ext cx="1127764" cy="113468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2CE69482-828D-D278-3453-1636FDAE46B0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3259" y="2531818"/>
            <a:ext cx="1139568" cy="1146565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281D70E9-0762-2CDB-0DE1-22A8E041D237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156" y="2555568"/>
            <a:ext cx="1139568" cy="1146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977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B8E0B57-5B79-D539-50DE-18F6BFC15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7" y="2891763"/>
            <a:ext cx="10118558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Soutenir</a:t>
            </a:r>
            <a:b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fr-FR" sz="5400" b="1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Teint d’Afriques Cosmétique </a:t>
            </a:r>
            <a:r>
              <a:rPr lang="fr-FR" sz="5400" dirty="0">
                <a:solidFill>
                  <a:schemeClr val="bg1">
                    <a:lumMod val="9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c’est :</a:t>
            </a:r>
            <a:endParaRPr lang="fr-CM" sz="5400" dirty="0">
              <a:solidFill>
                <a:schemeClr val="bg1">
                  <a:lumMod val="9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E93CDD0-1560-1176-A695-65E25ABC8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4" y="6356350"/>
            <a:ext cx="2743200" cy="365125"/>
          </a:xfrm>
        </p:spPr>
        <p:txBody>
          <a:bodyPr/>
          <a:lstStyle/>
          <a:p>
            <a:pPr algn="ctr"/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Page </a:t>
            </a:r>
            <a:fld id="{6E7E68B3-C161-4039-B386-AE75273E7265}" type="slidenum">
              <a:rPr lang="fr-CM" sz="1600" smtClean="0">
                <a:solidFill>
                  <a:schemeClr val="bg1">
                    <a:lumMod val="95000"/>
                  </a:schemeClr>
                </a:solidFill>
              </a:rPr>
              <a:pPr algn="ctr"/>
              <a:t>20</a:t>
            </a:fld>
            <a:r>
              <a:rPr lang="fr-CM" sz="1600" dirty="0">
                <a:solidFill>
                  <a:schemeClr val="bg1">
                    <a:lumMod val="95000"/>
                  </a:schemeClr>
                </a:solidFill>
              </a:rPr>
              <a:t> Sur 20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FBDB4DF-677E-8A51-411E-15D65A07574D}"/>
              </a:ext>
            </a:extLst>
          </p:cNvPr>
          <p:cNvSpPr txBox="1"/>
          <p:nvPr/>
        </p:nvSpPr>
        <p:spPr>
          <a:xfrm>
            <a:off x="649705" y="132347"/>
            <a:ext cx="43674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Manifeste RSE </a:t>
            </a:r>
            <a:r>
              <a:rPr lang="fr-FR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| </a:t>
            </a:r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Teint d’Afrique Cosmétiques</a:t>
            </a:r>
            <a:endParaRPr lang="fr-CM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12B9AB4-B18D-6EA3-1DD2-0ABFCB6CB4A8}"/>
              </a:ext>
            </a:extLst>
          </p:cNvPr>
          <p:cNvSpPr txBox="1"/>
          <p:nvPr/>
        </p:nvSpPr>
        <p:spPr>
          <a:xfrm>
            <a:off x="7174832" y="132347"/>
            <a:ext cx="3990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2026</a:t>
            </a:r>
            <a:endParaRPr lang="fr-CM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BA5B703-9A9D-5D7E-225D-07EDECF51ABF}"/>
              </a:ext>
            </a:extLst>
          </p:cNvPr>
          <p:cNvSpPr txBox="1"/>
          <p:nvPr/>
        </p:nvSpPr>
        <p:spPr>
          <a:xfrm>
            <a:off x="1106910" y="4706413"/>
            <a:ext cx="100222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Investir dans une entreprise africaine qui allie impact social, rentabilité économique et réconciliation identitaire</a:t>
            </a:r>
            <a:endParaRPr lang="fr-CM" sz="24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B45B824E-E9E9-C846-6417-A3DB6172403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224" y="794090"/>
            <a:ext cx="2140565" cy="158118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766BA0EC-D8B7-DE28-0718-6353BC236A3F}"/>
              </a:ext>
            </a:extLst>
          </p:cNvPr>
          <p:cNvSpPr txBox="1"/>
          <p:nvPr/>
        </p:nvSpPr>
        <p:spPr>
          <a:xfrm>
            <a:off x="7315209" y="6001524"/>
            <a:ext cx="33568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2000" dirty="0">
                <a:solidFill>
                  <a:schemeClr val="bg1">
                    <a:lumMod val="95000"/>
                  </a:schemeClr>
                </a:solidFill>
                <a:latin typeface="Monotype Corsiva" panose="03010101010201010101" pitchFamily="66" charset="0"/>
              </a:rPr>
              <a:t>Votre peau vaut de l’</a:t>
            </a:r>
            <a:r>
              <a:rPr lang="fr-FR" sz="2000" dirty="0">
                <a:solidFill>
                  <a:schemeClr val="accent4">
                    <a:lumMod val="60000"/>
                    <a:lumOff val="40000"/>
                  </a:schemeClr>
                </a:solidFill>
                <a:latin typeface="Monotype Corsiva" panose="03010101010201010101" pitchFamily="66" charset="0"/>
              </a:rPr>
              <a:t>Or</a:t>
            </a:r>
            <a:endParaRPr lang="fr-CM" sz="2000" dirty="0">
              <a:solidFill>
                <a:schemeClr val="accent4">
                  <a:lumMod val="60000"/>
                  <a:lumOff val="40000"/>
                </a:schemeClr>
              </a:solidFill>
              <a:latin typeface="Monotype Corsiva" panose="03010101010201010101" pitchFamily="66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6FC8168-1A5B-206F-68DD-EEC8478E850A}"/>
              </a:ext>
            </a:extLst>
          </p:cNvPr>
          <p:cNvSpPr txBox="1"/>
          <p:nvPr/>
        </p:nvSpPr>
        <p:spPr>
          <a:xfrm>
            <a:off x="1588172" y="6013556"/>
            <a:ext cx="46562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chemeClr val="bg1">
                    <a:lumMod val="95000"/>
                  </a:schemeClr>
                </a:solidFill>
              </a:rPr>
              <a:t>Responsabilité Sociétale Entreprise</a:t>
            </a:r>
            <a:endParaRPr lang="fr-CM" sz="20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214187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1192</Words>
  <Application>Microsoft Office PowerPoint</Application>
  <PresentationFormat>Grand écran</PresentationFormat>
  <Paragraphs>200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Cambria</vt:lpstr>
      <vt:lpstr>Monotype Corsiva</vt:lpstr>
      <vt:lpstr>Thème Office</vt:lpstr>
      <vt:lpstr>Présentation PowerPoint</vt:lpstr>
      <vt:lpstr>Qui sommes-nous ?</vt:lpstr>
      <vt:lpstr>Pourquoi ce manifeste ?</vt:lpstr>
      <vt:lpstr>Notre engagement</vt:lpstr>
      <vt:lpstr>Notre vision</vt:lpstr>
      <vt:lpstr>Notre ambition</vt:lpstr>
      <vt:lpstr>Nos piliers RSE</vt:lpstr>
      <vt:lpstr>Nos piliers RSE</vt:lpstr>
      <vt:lpstr>Le problème</vt:lpstr>
      <vt:lpstr>Nos piliers RSE</vt:lpstr>
      <vt:lpstr>Le problème</vt:lpstr>
      <vt:lpstr>Nos piliers RSE</vt:lpstr>
      <vt:lpstr>Le problème</vt:lpstr>
      <vt:lpstr>Nos piliers RSE</vt:lpstr>
      <vt:lpstr>Le problème</vt:lpstr>
      <vt:lpstr>Notre fil rouge</vt:lpstr>
      <vt:lpstr>APPEL AUX PARTENAIRES ET BAILLEURS</vt:lpstr>
      <vt:lpstr>Présentation PowerPoint</vt:lpstr>
      <vt:lpstr>Présentation PowerPoint</vt:lpstr>
      <vt:lpstr>Soutenir Teint d’Afriques Cosmétique c’est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Yannick Obada</dc:creator>
  <cp:lastModifiedBy>Minette Kamdem</cp:lastModifiedBy>
  <cp:revision>13</cp:revision>
  <dcterms:created xsi:type="dcterms:W3CDTF">2026-02-15T16:38:32Z</dcterms:created>
  <dcterms:modified xsi:type="dcterms:W3CDTF">2026-08-24T20:42:26Z</dcterms:modified>
</cp:coreProperties>
</file>